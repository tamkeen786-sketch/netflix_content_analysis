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73" r:id="rId10"/>
    <p:sldId id="270" r:id="rId11"/>
    <p:sldId id="271" r:id="rId12"/>
    <p:sldId id="263" r:id="rId13"/>
    <p:sldId id="264" r:id="rId14"/>
    <p:sldId id="265" r:id="rId15"/>
    <p:sldId id="266" r:id="rId16"/>
    <p:sldId id="267" r:id="rId17"/>
    <p:sldId id="268" r:id="rId18"/>
    <p:sldId id="274" r:id="rId19"/>
    <p:sldId id="275" r:id="rId20"/>
    <p:sldId id="276" r:id="rId21"/>
    <p:sldId id="277" r:id="rId22"/>
    <p:sldId id="278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keen ahmad" userId="1362afa9ef4e0eda" providerId="LiveId" clId="{F4BABDDF-65A9-4DC7-B447-DDDF5CA35535}"/>
    <pc:docChg chg="undo custSel delSld modSld sldOrd">
      <pc:chgData name="tamkeen ahmad" userId="1362afa9ef4e0eda" providerId="LiveId" clId="{F4BABDDF-65A9-4DC7-B447-DDDF5CA35535}" dt="2026-01-08T14:22:40.371" v="51" actId="20577"/>
      <pc:docMkLst>
        <pc:docMk/>
      </pc:docMkLst>
      <pc:sldChg chg="addSp delSp modSp mod">
        <pc:chgData name="tamkeen ahmad" userId="1362afa9ef4e0eda" providerId="LiveId" clId="{F4BABDDF-65A9-4DC7-B447-DDDF5CA35535}" dt="2026-01-08T14:07:55.540" v="10" actId="1076"/>
        <pc:sldMkLst>
          <pc:docMk/>
          <pc:sldMk cId="0" sldId="256"/>
        </pc:sldMkLst>
        <pc:spChg chg="del">
          <ac:chgData name="tamkeen ahmad" userId="1362afa9ef4e0eda" providerId="LiveId" clId="{F4BABDDF-65A9-4DC7-B447-DDDF5CA35535}" dt="2026-01-08T14:05:47.134" v="0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tamkeen ahmad" userId="1362afa9ef4e0eda" providerId="LiveId" clId="{F4BABDDF-65A9-4DC7-B447-DDDF5CA35535}" dt="2026-01-08T14:06:29.439" v="3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tamkeen ahmad" userId="1362afa9ef4e0eda" providerId="LiveId" clId="{F4BABDDF-65A9-4DC7-B447-DDDF5CA35535}" dt="2026-01-08T14:06:22.317" v="2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tamkeen ahmad" userId="1362afa9ef4e0eda" providerId="LiveId" clId="{F4BABDDF-65A9-4DC7-B447-DDDF5CA35535}" dt="2026-01-08T14:07:55.540" v="10" actId="1076"/>
          <ac:spMkLst>
            <pc:docMk/>
            <pc:sldMk cId="0" sldId="256"/>
            <ac:spMk id="8" creationId="{00000000-0000-0000-0000-000000000000}"/>
          </ac:spMkLst>
        </pc:spChg>
        <pc:picChg chg="add mod">
          <ac:chgData name="tamkeen ahmad" userId="1362afa9ef4e0eda" providerId="LiveId" clId="{F4BABDDF-65A9-4DC7-B447-DDDF5CA35535}" dt="2026-01-08T14:07:43.227" v="9" actId="14100"/>
          <ac:picMkLst>
            <pc:docMk/>
            <pc:sldMk cId="0" sldId="256"/>
            <ac:picMk id="10" creationId="{3216EF53-E190-5FA3-2DB0-9A117F1D8CB7}"/>
          </ac:picMkLst>
        </pc:picChg>
      </pc:sldChg>
      <pc:sldChg chg="addSp delSp modSp mod">
        <pc:chgData name="tamkeen ahmad" userId="1362afa9ef4e0eda" providerId="LiveId" clId="{F4BABDDF-65A9-4DC7-B447-DDDF5CA35535}" dt="2026-01-08T14:10:14.780" v="18" actId="1036"/>
        <pc:sldMkLst>
          <pc:docMk/>
          <pc:sldMk cId="0" sldId="260"/>
        </pc:sldMkLst>
        <pc:spChg chg="mod">
          <ac:chgData name="tamkeen ahmad" userId="1362afa9ef4e0eda" providerId="LiveId" clId="{F4BABDDF-65A9-4DC7-B447-DDDF5CA35535}" dt="2026-01-08T14:10:07.771" v="17" actId="1076"/>
          <ac:spMkLst>
            <pc:docMk/>
            <pc:sldMk cId="0" sldId="260"/>
            <ac:spMk id="9" creationId="{F6F88B3D-DE92-EFE3-CDEB-202BFA31EF95}"/>
          </ac:spMkLst>
        </pc:spChg>
        <pc:picChg chg="mod">
          <ac:chgData name="tamkeen ahmad" userId="1362afa9ef4e0eda" providerId="LiveId" clId="{F4BABDDF-65A9-4DC7-B447-DDDF5CA35535}" dt="2026-01-08T14:10:14.780" v="18" actId="1036"/>
          <ac:picMkLst>
            <pc:docMk/>
            <pc:sldMk cId="0" sldId="260"/>
            <ac:picMk id="7" creationId="{00000000-0000-0000-0000-000000000000}"/>
          </ac:picMkLst>
        </pc:picChg>
        <pc:picChg chg="add del">
          <ac:chgData name="tamkeen ahmad" userId="1362afa9ef4e0eda" providerId="LiveId" clId="{F4BABDDF-65A9-4DC7-B447-DDDF5CA35535}" dt="2026-01-08T14:09:05.475" v="14" actId="478"/>
          <ac:picMkLst>
            <pc:docMk/>
            <pc:sldMk cId="0" sldId="260"/>
            <ac:picMk id="11" creationId="{1A438C45-B961-0E89-818E-AF350E0FE46C}"/>
          </ac:picMkLst>
        </pc:picChg>
      </pc:sldChg>
      <pc:sldChg chg="del">
        <pc:chgData name="tamkeen ahmad" userId="1362afa9ef4e0eda" providerId="LiveId" clId="{F4BABDDF-65A9-4DC7-B447-DDDF5CA35535}" dt="2026-01-08T14:11:49.217" v="19" actId="2696"/>
        <pc:sldMkLst>
          <pc:docMk/>
          <pc:sldMk cId="0" sldId="269"/>
        </pc:sldMkLst>
      </pc:sldChg>
      <pc:sldChg chg="ord">
        <pc:chgData name="tamkeen ahmad" userId="1362afa9ef4e0eda" providerId="LiveId" clId="{F4BABDDF-65A9-4DC7-B447-DDDF5CA35535}" dt="2026-01-08T14:13:29.480" v="27"/>
        <pc:sldMkLst>
          <pc:docMk/>
          <pc:sldMk cId="0" sldId="270"/>
        </pc:sldMkLst>
      </pc:sldChg>
      <pc:sldChg chg="ord">
        <pc:chgData name="tamkeen ahmad" userId="1362afa9ef4e0eda" providerId="LiveId" clId="{F4BABDDF-65A9-4DC7-B447-DDDF5CA35535}" dt="2026-01-08T14:13:39.094" v="29"/>
        <pc:sldMkLst>
          <pc:docMk/>
          <pc:sldMk cId="0" sldId="271"/>
        </pc:sldMkLst>
      </pc:sldChg>
      <pc:sldChg chg="modSp mod ord">
        <pc:chgData name="tamkeen ahmad" userId="1362afa9ef4e0eda" providerId="LiveId" clId="{F4BABDDF-65A9-4DC7-B447-DDDF5CA35535}" dt="2026-01-08T14:22:40.371" v="51" actId="20577"/>
        <pc:sldMkLst>
          <pc:docMk/>
          <pc:sldMk cId="0" sldId="272"/>
        </pc:sldMkLst>
        <pc:spChg chg="mod">
          <ac:chgData name="tamkeen ahmad" userId="1362afa9ef4e0eda" providerId="LiveId" clId="{F4BABDDF-65A9-4DC7-B447-DDDF5CA35535}" dt="2026-01-08T14:22:40.371" v="51" actId="20577"/>
          <ac:spMkLst>
            <pc:docMk/>
            <pc:sldMk cId="0" sldId="272"/>
            <ac:spMk id="4" creationId="{00000000-0000-0000-0000-000000000000}"/>
          </ac:spMkLst>
        </pc:spChg>
      </pc:sldChg>
      <pc:sldChg chg="ord">
        <pc:chgData name="tamkeen ahmad" userId="1362afa9ef4e0eda" providerId="LiveId" clId="{F4BABDDF-65A9-4DC7-B447-DDDF5CA35535}" dt="2026-01-08T14:13:12.492" v="25"/>
        <pc:sldMkLst>
          <pc:docMk/>
          <pc:sldMk cId="0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6813" y="4041058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rPr sz="2200" dirty="0">
                <a:solidFill>
                  <a:srgbClr val="FFFFFF"/>
                </a:solidFill>
                <a:latin typeface="Arial"/>
              </a:rPr>
              <a:t>Presented By:</a:t>
            </a:r>
          </a:p>
          <a:p>
            <a:pPr>
              <a:defRPr sz="2200" b="1"/>
            </a:pPr>
            <a:r>
              <a:rPr sz="2200" dirty="0">
                <a:solidFill>
                  <a:srgbClr val="FFFFFF"/>
                </a:solidFill>
                <a:latin typeface="Arial"/>
              </a:rPr>
              <a:t>Mohammad Tamkeen</a:t>
            </a:r>
          </a:p>
          <a:p>
            <a:pPr>
              <a:defRPr sz="2200" b="1"/>
            </a:pPr>
            <a:r>
              <a:rPr sz="2200" dirty="0">
                <a:solidFill>
                  <a:srgbClr val="FFFFFF"/>
                </a:solidFill>
                <a:latin typeface="Arial"/>
              </a:rPr>
              <a:t>Yash Vardhan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0350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50914"/>
                </a:solidFill>
              </a:defRPr>
            </a:pPr>
            <a:r>
              <a:rPr sz="2200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0350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50914"/>
                </a:solidFill>
              </a:defRPr>
            </a:pPr>
            <a:r>
              <a:t>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27820" y="4754880"/>
            <a:ext cx="9144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E50914"/>
                </a:solidFill>
              </a:defRPr>
            </a:pPr>
            <a:r>
              <a:rPr dirty="0"/>
              <a:t>NETFLIX</a:t>
            </a:r>
          </a:p>
          <a:p>
            <a:pPr algn="ctr">
              <a:defRPr sz="3000">
                <a:solidFill>
                  <a:srgbClr val="FFFFFF"/>
                </a:solidFill>
              </a:defRPr>
            </a:pPr>
            <a:r>
              <a:rPr dirty="0"/>
              <a:t>Content, Viewership &amp; Profitability Analysis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SQL • Business Intelligence • Data Analytics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16EF53-E190-5FA3-2DB0-9A117F1D8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7" y="440712"/>
            <a:ext cx="8937523" cy="35020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c66a0e9-feb2-45db-ab62-db5891abba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Goal: Analyze Netflix content, viewership &amp; profitability using SQL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Focus on content mix, regional trends, engagement &amp; revenue drivers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Business-oriented, insight-first analytics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0350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50914"/>
                </a:solidFill>
              </a:defRPr>
            </a:pPr>
            <a:r>
              <a:rPr sz="2200">
                <a:solidFill>
                  <a:srgbClr val="FFFFFF"/>
                </a:solidFill>
                <a:latin typeface="Arial"/>
              </a:rPr>
              <a:t>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c66a0e9-feb2-45db-ab62-db5891abba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Netflix content metadata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Viewership &amp; watch-time data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Production &amp; marketing cost data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Cleaned &amp; SQL-ready relational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0350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50914"/>
                </a:solidFill>
              </a:defRPr>
            </a:pPr>
            <a:r>
              <a:rPr sz="2200">
                <a:solidFill>
                  <a:srgbClr val="FFFFFF"/>
                </a:solidFill>
                <a:latin typeface="Arial"/>
              </a:rPr>
              <a:t>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c66a0e9-feb2-45db-ab62-db5891abba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Key Business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Movies vs TV Shows distribution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Top countries &amp; genres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Content trends over time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Profitability &amp; engagement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0350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50914"/>
                </a:solidFill>
              </a:defRPr>
            </a:pPr>
            <a:r>
              <a:rPr sz="2200">
                <a:solidFill>
                  <a:srgbClr val="FFFFFF"/>
                </a:solidFill>
                <a:latin typeface="Arial"/>
              </a:rPr>
              <a:t>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c66a0e9-feb2-45db-ab62-db5891abba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7" y="41787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200" dirty="0">
                <a:solidFill>
                  <a:srgbClr val="FFFFFF"/>
                </a:solidFill>
                <a:latin typeface="Arial"/>
              </a:rPr>
              <a:t>ER Diagram</a:t>
            </a:r>
            <a:endParaRPr sz="22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7362"/>
            <a:ext cx="12161520" cy="3657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0350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50914"/>
                </a:solidFill>
              </a:defRPr>
            </a:pPr>
            <a:r>
              <a:rPr sz="2200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F88B3D-DE92-EFE3-CDEB-202BFA31EF95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6165232" y="3313347"/>
            <a:ext cx="1090974" cy="104738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438C45-B961-0E89-818E-AF350E0FE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671" y="1235586"/>
            <a:ext cx="7373379" cy="54395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c66a0e9-feb2-45db-ab62-db5891abba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Content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Most common ratings identified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Documentaries form a niche segment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Long-running TV shows improve engagement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Genre distribution reveals audience preferences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0350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50914"/>
                </a:solidFill>
              </a:defRPr>
            </a:pPr>
            <a:r>
              <a:rPr sz="2200">
                <a:solidFill>
                  <a:srgbClr val="FFFFFF"/>
                </a:solidFill>
                <a:latin typeface="Arial"/>
              </a:rPr>
              <a:t>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c66a0e9-feb2-45db-ab62-db5891abba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64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Top 10 Genre Distribution</a:t>
            </a:r>
          </a:p>
        </p:txBody>
      </p:sp>
      <p:pic>
        <p:nvPicPr>
          <p:cNvPr id="3" name="Picture 2" descr="genr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45920"/>
            <a:ext cx="5029200" cy="3771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61933" y="1347019"/>
            <a:ext cx="4650632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200" dirty="0">
                <a:solidFill>
                  <a:srgbClr val="FFFFFF"/>
                </a:solidFill>
                <a:latin typeface="Arial"/>
              </a:rPr>
              <a:t>Business Insight:</a:t>
            </a:r>
          </a:p>
          <a:p>
            <a:pPr lvl="1"/>
            <a:r>
              <a:rPr sz="2200" dirty="0">
                <a:solidFill>
                  <a:srgbClr val="FFFFFF"/>
                </a:solidFill>
                <a:latin typeface="Arial"/>
              </a:rPr>
              <a:t>Drama and International </a:t>
            </a:r>
            <a:r>
              <a:rPr lang="en-US" sz="2200" dirty="0">
                <a:solidFill>
                  <a:srgbClr val="FFFFFF"/>
                </a:solidFill>
                <a:latin typeface="Arial"/>
              </a:rPr>
              <a:t>Movies</a:t>
            </a:r>
          </a:p>
          <a:p>
            <a:pPr lvl="1"/>
            <a:r>
              <a:rPr sz="2200" dirty="0">
                <a:solidFill>
                  <a:srgbClr val="FFFFFF"/>
                </a:solidFill>
                <a:latin typeface="Arial"/>
              </a:rPr>
              <a:t>genres dominate audience</a:t>
            </a:r>
            <a:endParaRPr lang="en-US" sz="2200" dirty="0">
              <a:solidFill>
                <a:srgbClr val="FFFFFF"/>
              </a:solidFill>
              <a:latin typeface="Arial"/>
            </a:endParaRPr>
          </a:p>
          <a:p>
            <a:pPr lvl="1"/>
            <a:r>
              <a:rPr sz="2200" dirty="0">
                <a:solidFill>
                  <a:srgbClr val="FFFFFF"/>
                </a:solidFill>
                <a:latin typeface="Arial"/>
              </a:rPr>
              <a:t>preferences.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0350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50914"/>
                </a:solidFill>
              </a:defRPr>
            </a:pPr>
            <a:r>
              <a:rPr sz="2200">
                <a:solidFill>
                  <a:srgbClr val="FFFFFF"/>
                </a:solidFill>
                <a:latin typeface="Arial"/>
              </a:rPr>
              <a:t>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c66a0e9-feb2-45db-ab62-db5891abba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Geographical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India shows rising average content release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Certain countries contribute disproportionate views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Regional storytelling boosts engagement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0350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50914"/>
                </a:solidFill>
              </a:defRPr>
            </a:pPr>
            <a:r>
              <a:rPr sz="2200">
                <a:solidFill>
                  <a:srgbClr val="FFFFFF"/>
                </a:solidFill>
                <a:latin typeface="Arial"/>
              </a:rPr>
              <a:t>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c66a0e9-feb2-45db-ab62-db5891abba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496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Top 5 Most Profitable Titles</a:t>
            </a:r>
          </a:p>
        </p:txBody>
      </p:sp>
      <p:pic>
        <p:nvPicPr>
          <p:cNvPr id="3" name="Picture 2" descr="top_profit_tit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63" y="1428908"/>
            <a:ext cx="5986813" cy="50407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828800"/>
            <a:ext cx="6144246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200" dirty="0">
                <a:solidFill>
                  <a:srgbClr val="FFFFFF"/>
                </a:solidFill>
                <a:latin typeface="Arial"/>
              </a:rPr>
              <a:t>Business Insight:</a:t>
            </a:r>
          </a:p>
          <a:p>
            <a:pPr lvl="1"/>
            <a:r>
              <a:rPr sz="2200" dirty="0">
                <a:solidFill>
                  <a:srgbClr val="FFFFFF"/>
                </a:solidFill>
                <a:latin typeface="Arial"/>
              </a:rPr>
              <a:t>High profitability is driven by cost efficiency, </a:t>
            </a:r>
            <a:endParaRPr lang="en-US" sz="2200" dirty="0">
              <a:solidFill>
                <a:srgbClr val="FFFFFF"/>
              </a:solidFill>
              <a:latin typeface="Arial"/>
            </a:endParaRPr>
          </a:p>
          <a:p>
            <a:pPr lvl="1"/>
            <a:r>
              <a:rPr sz="2200" dirty="0">
                <a:solidFill>
                  <a:srgbClr val="FFFFFF"/>
                </a:solidFill>
                <a:latin typeface="Arial"/>
              </a:rPr>
              <a:t>not just high budgets.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0350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50914"/>
                </a:solidFill>
              </a:defRPr>
            </a:pPr>
            <a:r>
              <a:rPr sz="2200">
                <a:solidFill>
                  <a:srgbClr val="FFFFFF"/>
                </a:solidFill>
                <a:latin typeface="Arial"/>
              </a:rPr>
              <a:t>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c66a0e9-feb2-45db-ab62-db5891abba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Movies vs TV Shows Distribution</a:t>
            </a:r>
          </a:p>
        </p:txBody>
      </p:sp>
      <p:pic>
        <p:nvPicPr>
          <p:cNvPr id="3" name="Picture 2" descr="movies_vs_t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45920"/>
            <a:ext cx="5029200" cy="3771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828800"/>
            <a:ext cx="5718232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200" dirty="0">
                <a:solidFill>
                  <a:srgbClr val="FFFFFF"/>
                </a:solidFill>
                <a:latin typeface="Arial"/>
              </a:rPr>
              <a:t>Business Insight:</a:t>
            </a:r>
          </a:p>
          <a:p>
            <a:pPr lvl="1"/>
            <a:r>
              <a:rPr sz="2200" dirty="0">
                <a:solidFill>
                  <a:srgbClr val="FFFFFF"/>
                </a:solidFill>
                <a:latin typeface="Arial"/>
              </a:rPr>
              <a:t>Movies dominate volume, while </a:t>
            </a:r>
            <a:endParaRPr lang="en-US" sz="2200" dirty="0">
              <a:solidFill>
                <a:srgbClr val="FFFFFF"/>
              </a:solidFill>
              <a:latin typeface="Arial"/>
            </a:endParaRPr>
          </a:p>
          <a:p>
            <a:pPr lvl="1"/>
            <a:r>
              <a:rPr sz="2200" dirty="0">
                <a:solidFill>
                  <a:srgbClr val="FFFFFF"/>
                </a:solidFill>
                <a:latin typeface="Arial"/>
              </a:rPr>
              <a:t>TV Shows are stronger retention drivers.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0350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50914"/>
                </a:solidFill>
              </a:defRPr>
            </a:pPr>
            <a:r>
              <a:rPr sz="2200">
                <a:solidFill>
                  <a:srgbClr val="FFFFFF"/>
                </a:solidFill>
                <a:latin typeface="Arial"/>
              </a:rPr>
              <a:t>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c66a0e9-feb2-45db-ab62-db5891abba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Top 5 Content Producing Countries</a:t>
            </a:r>
          </a:p>
        </p:txBody>
      </p:sp>
      <p:pic>
        <p:nvPicPr>
          <p:cNvPr id="3" name="Picture 2" descr="top_count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45920"/>
            <a:ext cx="5029200" cy="3771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828800"/>
            <a:ext cx="4867038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200" dirty="0">
                <a:solidFill>
                  <a:srgbClr val="FFFFFF"/>
                </a:solidFill>
                <a:latin typeface="Arial"/>
              </a:rPr>
              <a:t>Business Insight:</a:t>
            </a:r>
          </a:p>
          <a:p>
            <a:pPr lvl="1"/>
            <a:r>
              <a:rPr sz="2200" dirty="0">
                <a:solidFill>
                  <a:srgbClr val="FFFFFF"/>
                </a:solidFill>
                <a:latin typeface="Arial"/>
              </a:rPr>
              <a:t>Netflix balances global scale with </a:t>
            </a:r>
            <a:endParaRPr lang="en-US" sz="2200" dirty="0">
              <a:solidFill>
                <a:srgbClr val="FFFFFF"/>
              </a:solidFill>
              <a:latin typeface="Arial"/>
            </a:endParaRPr>
          </a:p>
          <a:p>
            <a:pPr lvl="1"/>
            <a:r>
              <a:rPr sz="2200" dirty="0">
                <a:solidFill>
                  <a:srgbClr val="FFFFFF"/>
                </a:solidFill>
                <a:latin typeface="Arial"/>
              </a:rPr>
              <a:t>strong local content investments.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0350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50914"/>
                </a:solidFill>
              </a:defRPr>
            </a:pPr>
            <a:r>
              <a:rPr sz="2200">
                <a:solidFill>
                  <a:srgbClr val="FFFFFF"/>
                </a:solidFill>
                <a:latin typeface="Arial"/>
              </a:rPr>
              <a:t>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c66a0e9-feb2-45db-ab62-db5891abba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Profitability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Profit = Revenue – (Production + Marketing Cost)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Top 3 profitable titles identified by content type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High-budget content does not guarantee profit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0350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50914"/>
                </a:solidFill>
              </a:defRPr>
            </a:pPr>
            <a:r>
              <a:rPr sz="2200">
                <a:solidFill>
                  <a:srgbClr val="FFFFFF"/>
                </a:solidFill>
                <a:latin typeface="Arial"/>
              </a:rPr>
              <a:t>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c66a0e9-feb2-45db-ab62-db5891abba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Viewership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Above-average watch time titles drive platform views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Viewer engagement is highly skewed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Few titles retain majority of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0350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50914"/>
                </a:solidFill>
              </a:defRPr>
            </a:pPr>
            <a:r>
              <a:rPr sz="2200">
                <a:solidFill>
                  <a:srgbClr val="FFFFFF"/>
                </a:solidFill>
                <a:latin typeface="Arial"/>
              </a:rPr>
              <a:t>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c66a0e9-feb2-45db-ab62-db5891abba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Risk Categorization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Content tagged with 'kill' &amp; 'violence' analyzed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Risk vs non-risk content classification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Helps in content moderation &amp;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0350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50914"/>
                </a:solidFill>
              </a:defRPr>
            </a:pPr>
            <a:r>
              <a:rPr sz="2200">
                <a:solidFill>
                  <a:srgbClr val="FFFFFF"/>
                </a:solidFill>
                <a:latin typeface="Arial"/>
              </a:rPr>
              <a:t>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c66a0e9-feb2-45db-ab62-db5891abba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Business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Netflix follows high-volume, low-hit-rate model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Data-driven content selection is critical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Retention-focused content outperforms volume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0350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50914"/>
                </a:solidFill>
              </a:defRPr>
            </a:pPr>
            <a:r>
              <a:rPr sz="2200">
                <a:solidFill>
                  <a:srgbClr val="FFFFFF"/>
                </a:solidFill>
                <a:latin typeface="Arial"/>
              </a:rPr>
              <a:t>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c66a0e9-feb2-45db-ab62-db5891abba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Invest more in high-retention TV formats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Optimize marketing spend on low-ROI titles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Expand localized content in high-growth regions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Balance creative freedom with brand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0350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50914"/>
                </a:solidFill>
              </a:defRPr>
            </a:pPr>
            <a:r>
              <a:rPr sz="2200">
                <a:solidFill>
                  <a:srgbClr val="FFFFFF"/>
                </a:solidFill>
                <a:latin typeface="Arial"/>
              </a:rPr>
              <a:t>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c66a0e9-feb2-45db-ab62-db5891abba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Tools &amp; Skills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SQL: Joins, CTEs, Window Functions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Business Metrics &amp; Trend Analysis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Analytical storytelling &amp;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0350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50914"/>
                </a:solidFill>
              </a:defRPr>
            </a:pPr>
            <a:r>
              <a:rPr sz="2200">
                <a:solidFill>
                  <a:srgbClr val="FFFFFF"/>
                </a:solidFill>
                <a:latin typeface="Arial"/>
              </a:rPr>
              <a:t>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c66a0e9-feb2-45db-ab62-db5891abba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SQL Approach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Used show_id as primary key to join content, viewership, and cost tables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Applied aggregations (COUNT, SUM, AVG) for trends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Used window functions for ranking and profitability analysis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Focused on business questions before writing queries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0350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50914"/>
                </a:solidFill>
              </a:defRPr>
            </a:pPr>
            <a:r>
              <a:rPr sz="2200">
                <a:solidFill>
                  <a:srgbClr val="FFFFFF"/>
                </a:solidFill>
                <a:latin typeface="Arial"/>
              </a:rPr>
              <a:t>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c66a0e9-feb2-45db-ab62-db5891abba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Key SQL Results – Content &amp;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Movies dominate content volume; TV Shows drive retention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USA and India are top content-producing countries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Drama and International genres have highest presence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Post-2018 releases show strong growth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0350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50914"/>
                </a:solidFill>
              </a:defRPr>
            </a:pPr>
            <a:r>
              <a:rPr sz="2200">
                <a:solidFill>
                  <a:srgbClr val="FFFFFF"/>
                </a:solidFill>
                <a:latin typeface="Arial"/>
              </a:rPr>
              <a:t>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c66a0e9-feb2-45db-ab62-db5891abba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Key SQL Results – Profit &amp;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Profit calculated as Revenue – (Production + Marketing Cost)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Few titles generate majority of total profit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High budget does not guarantee high profitability</a:t>
            </a:r>
          </a:p>
          <a:p>
            <a:r>
              <a:rPr sz="2200">
                <a:solidFill>
                  <a:srgbClr val="FFFFFF"/>
                </a:solidFill>
                <a:latin typeface="Arial"/>
              </a:rPr>
              <a:t>Above-average watch time titles drive most 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0350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50914"/>
                </a:solidFill>
              </a:defRPr>
            </a:pPr>
            <a:r>
              <a:rPr sz="2200">
                <a:solidFill>
                  <a:srgbClr val="FFFFFF"/>
                </a:solidFill>
                <a:latin typeface="Arial"/>
              </a:rPr>
              <a:t>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c66a0e9-feb2-45db-ab62-db5891abba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Final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dirty="0">
                <a:solidFill>
                  <a:srgbClr val="FFFFFF"/>
                </a:solidFill>
                <a:latin typeface="Arial"/>
              </a:rPr>
              <a:t>Supports data-driven content investment decisions</a:t>
            </a:r>
          </a:p>
          <a:p>
            <a:r>
              <a:rPr sz="2200" dirty="0">
                <a:solidFill>
                  <a:srgbClr val="FFFFFF"/>
                </a:solidFill>
                <a:latin typeface="Arial"/>
              </a:rPr>
              <a:t>Helps optimize marketing and production budgets</a:t>
            </a:r>
          </a:p>
          <a:p>
            <a:r>
              <a:rPr sz="2200" dirty="0">
                <a:solidFill>
                  <a:srgbClr val="FFFFFF"/>
                </a:solidFill>
                <a:latin typeface="Arial"/>
              </a:rPr>
              <a:t>Improves regional and genre-level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0350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50914"/>
                </a:solidFill>
              </a:defRPr>
            </a:pPr>
            <a:r>
              <a:rPr sz="2200">
                <a:solidFill>
                  <a:srgbClr val="FFFFFF"/>
                </a:solidFill>
                <a:latin typeface="Arial"/>
              </a:rPr>
              <a:t>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c66a0e9-feb2-45db-ab62-db5891abba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1155680" y="60350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50914"/>
                </a:solidFill>
              </a:defRPr>
            </a:pPr>
            <a:r>
              <a:t>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7252" y="1848465"/>
            <a:ext cx="111497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50914"/>
                </a:solidFill>
              </a:defRPr>
            </a:pPr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501</Words>
  <Application>Microsoft Office PowerPoint</Application>
  <PresentationFormat>On-screen Show (4:3)</PresentationFormat>
  <Paragraphs>115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Project Overview</vt:lpstr>
      <vt:lpstr>Dataset Overview</vt:lpstr>
      <vt:lpstr>Key Business Questions</vt:lpstr>
      <vt:lpstr>ER Diagram</vt:lpstr>
      <vt:lpstr>Content Analysis</vt:lpstr>
      <vt:lpstr>Top 10 Genre Distribution</vt:lpstr>
      <vt:lpstr>Geographical Insights</vt:lpstr>
      <vt:lpstr>Top 5 Most Profitable Titles</vt:lpstr>
      <vt:lpstr>Movies vs TV Shows Distribution</vt:lpstr>
      <vt:lpstr>Top 5 Content Producing Countries</vt:lpstr>
      <vt:lpstr>Profitability Analysis</vt:lpstr>
      <vt:lpstr>Viewership Analysis</vt:lpstr>
      <vt:lpstr>Risk Categorization</vt:lpstr>
      <vt:lpstr>Business Conclusions</vt:lpstr>
      <vt:lpstr>Strategic Recommendations</vt:lpstr>
      <vt:lpstr>Tools &amp; Skills Used</vt:lpstr>
      <vt:lpstr>SQL Approach &amp; Methodology</vt:lpstr>
      <vt:lpstr>Key SQL Results – Content &amp; Region</vt:lpstr>
      <vt:lpstr>Key SQL Results – Profit &amp; Engagement</vt:lpstr>
      <vt:lpstr>Final Business Impact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tamkeen ahmad</cp:lastModifiedBy>
  <cp:revision>2</cp:revision>
  <dcterms:created xsi:type="dcterms:W3CDTF">2013-01-27T09:14:16Z</dcterms:created>
  <dcterms:modified xsi:type="dcterms:W3CDTF">2026-01-08T14:22:49Z</dcterms:modified>
  <cp:category/>
</cp:coreProperties>
</file>